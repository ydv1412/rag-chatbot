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105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307619-189A-4A13-842D-32DD068A49D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A596C-A9D0-4313-9717-021D7EDC75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8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A596C-A9D0-4313-9717-021D7EDC757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569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8DA3-F662-B652-B358-C7E6F1C41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7705E-12A7-8BC3-78C2-7E274F109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D8901-4FB9-A410-52BF-B5947721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704A8-63E2-DE42-9A78-43830CEE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BEC6C-DD3A-275A-E8FF-6029FE97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54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0798-260A-4D98-DF7A-FD8541A6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541C3-EFC7-4A0F-B6CB-17EB160D4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CA811-2B6C-655D-881E-FDECF4F2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8CEB2-FF99-42E5-22D4-32BE9F0A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8271-E7D0-7628-762D-398BE959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6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B4AE-B28F-7D05-660B-B357FF89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3CB6E-82BC-C1A5-5E3B-3382E82D8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BD1F7-E1C4-4A26-D015-CB1EA99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14A5F-46BE-3C66-2578-7EC78DA69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5E2C7-79A5-2086-5C1B-EC801C0E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41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E7D1-430A-C93B-E835-95CDBD76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ADF52-63A8-667C-0A3A-8FC055B9F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BAC36-FD3B-156F-A5DF-325A95540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DDD1D-D67C-3B0E-522C-0CB0A647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420D6-4A9D-A38D-7F9E-2A399C11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1CB43-376C-6A14-5D87-F8601CA7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38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4E8D3-1522-2067-5D1F-AE709DE7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0AA74-082A-5E81-C043-291A59BE7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0E4D8-EB2C-9AA7-28CF-2E4C24C02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BDEDB-8AB2-6F85-7708-2996F8DF3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EBDA7-3FCD-9227-7B74-BD9516B6C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3BF0C-E1EC-83D4-BCFF-67101B94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F71C56-3207-D1BD-B7AD-493234212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54FFA-308E-024B-8342-A39775DB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9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ED4D-6444-5675-3E1C-D5F456E0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3184F0-BC73-2A15-7F6A-22DEBAC0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5E46-A496-D84B-8544-2388B1C4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FC05D-F3D6-1432-4438-CFDB4846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68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404BE-D6A7-FF09-44B5-07A5860AE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30677-B850-15BF-D629-90D6D46C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EED14-8DA1-8709-1D3B-80BC537C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612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5799-DE4B-DB85-7321-9A1C0294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B30A8-E8F4-8A12-F96C-1A8C1AEEF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3B0B2-B606-7209-FBCF-B4AA3415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8E9F4-B30F-546F-8A5E-58922372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1970A-B1B7-E8EB-6B0F-5478F87C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42280-151A-38D0-6430-CE5386B4E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5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84BA-6C47-F03E-95A7-51F15A2D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1715EA-C008-3772-00A2-1A95BA7C4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34D6D-9B93-575D-FBF5-434E095D2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B7DBA-CFBE-E6B3-7C9C-F5026DCE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772F2-800B-2446-2231-B7D70A2CA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12FC4-FD40-7604-9B0E-BC2CABFDA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89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EEE5-79B3-B06F-4FCE-E60537C5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8361C-F9C7-F0DC-CFE4-33A7D0C5C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FE56C-B031-D7D8-712E-1BE840667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6D07-119F-CB17-D9AA-52B3A0F8C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408D6-3011-DF5E-0EA3-D2CDDFFD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8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53668E-4D92-AAB0-3811-253C244C8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16BA9-E976-7F03-E1C5-BF86C361C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5E1C7-170A-1021-ABC8-DBD20010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10D04-1DF8-8368-E114-F42BCCB3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6C245-7407-7586-B60C-3DC4D8CE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2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223AD-7C61-FBD0-10A6-1C154E20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BE3E9-6352-9EF7-4190-F86B53D07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CEE1B-96E3-B4DA-D1BE-4B5CBBFE1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E4DFF-0B28-4C65-95D3-F8C1928B74EE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5691D-108B-81A4-A36B-AEF17C03A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199DB-2BA3-9135-B111-5BED852BC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7085D-FD24-4213-A3A8-5724F3013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68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D21E-9F9E-5D81-8E24-141ECCC89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502" y="714194"/>
            <a:ext cx="9144000" cy="2162356"/>
          </a:xfrm>
        </p:spPr>
        <p:txBody>
          <a:bodyPr>
            <a:noAutofit/>
          </a:bodyPr>
          <a:lstStyle/>
          <a:p>
            <a:r>
              <a:rPr lang="en-US" sz="5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RAG CHATBOT FOR EU COMMISSION NEWS</a:t>
            </a:r>
            <a:endParaRPr lang="en-IN" sz="55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59E7D-901C-FCE0-411D-5025ED11D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8087"/>
            <a:ext cx="9144000" cy="1655762"/>
          </a:xfrm>
        </p:spPr>
        <p:txBody>
          <a:bodyPr/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SHRI PRAKASH YADAV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MATRICOLA: D03000084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TEXT MINING FINAL PROJECT</a:t>
            </a:r>
            <a:endParaRPr lang="en-I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68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5E144-D117-77DF-5A17-4F7437B88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17" y="460375"/>
            <a:ext cx="10515600" cy="1028609"/>
          </a:xfrm>
        </p:spPr>
        <p:txBody>
          <a:bodyPr>
            <a:noAutofit/>
          </a:bodyPr>
          <a:lstStyle/>
          <a:p>
            <a:r>
              <a:rPr lang="en-US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</a:t>
            </a:r>
            <a:endParaRPr lang="en-IN" sz="40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6C04D3-340D-0938-D476-0CD831447F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6467" y="1706475"/>
            <a:ext cx="5743083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The European Commission publishes lots of news every month, but it’s spread across many articles.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If someone wants a specific detail, they usually have to search through the site and read full articles.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This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chatbot makes this easier; you can just ask your question directly and get a clear, fact-based answer from the last month’s news.</a:t>
            </a:r>
            <a:endParaRPr lang="en-US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is way, the chatbot saves time, avoids hallucinations, and stays grounded in real EU news.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F35043-6A80-1D02-9EBC-C1B2D4079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1371600"/>
            <a:ext cx="5174027" cy="37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0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DB4E-8230-AD71-568C-3B824FD5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B7BC-F9B8-9FCA-C8B3-07CF4EA6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17" y="460375"/>
            <a:ext cx="10515600" cy="485775"/>
          </a:xfrm>
        </p:spPr>
        <p:txBody>
          <a:bodyPr>
            <a:noAutofit/>
          </a:bodyPr>
          <a:lstStyle/>
          <a:p>
            <a:r>
              <a:rPr lang="en-US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DATA COLLECTION</a:t>
            </a:r>
            <a:endParaRPr lang="en-IN" sz="40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0E3D16-A88B-63C9-A7B0-08214541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04" y="2921000"/>
            <a:ext cx="9810750" cy="3298346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B6B1A2A6-47E6-C85C-FF59-EBFA16754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248" y="1228250"/>
            <a:ext cx="874087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Scraped European Commission news (June 6 – July 14, 2024).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Removed headers, footers, and duplicates for clean text.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Preserved tables separately using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 Unicode MS"/>
              </a:rPr>
              <a:t>&lt;table&gt;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&lt;/table&gt; tags to prevent midway chunking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Stored metadata: title, date, and link for each article.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Filtered for relevant, high-quality entries.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Final dataset: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317 curated articles.</a:t>
            </a:r>
          </a:p>
        </p:txBody>
      </p:sp>
    </p:spTree>
    <p:extLst>
      <p:ext uri="{BB962C8B-B14F-4D97-AF65-F5344CB8AC3E}">
        <p14:creationId xmlns:p14="http://schemas.microsoft.com/office/powerpoint/2010/main" val="3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95-BF9B-0930-87D0-72AF98DD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92864"/>
            <a:ext cx="10515600" cy="714375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CHUNKING STRATEGY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36C30C-6E01-C4EF-88DD-C6F29E2B1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45" y="807239"/>
            <a:ext cx="11216855" cy="615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Explored several strategies: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NLTK’s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Punkt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to split </a:t>
            </a: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articles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into sentences, then merged adjacent ones if similarity &gt; 0.75 and total length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&lt; 300.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Produced readable chunks, but too short and lacking local context or completeness.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Relaxed merge rule (similarity &gt; 0.50, max length = 500).</a:t>
            </a:r>
          </a:p>
          <a:p>
            <a:pPr marL="1200150" lvl="2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Created larger, more informative chunks.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Similarity models tested for merging: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all-MiniLM-L6-v2.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all-mpnet-base-v2: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performed better, giving clearer semantic grouping.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Overlap strategy: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Added overlap to preserve coherence.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But heavy overlap caused repetition and wasted context budget.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Final adjustment: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Switched to shorter chunks of 500 characters with a stride of 200.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Result: Crisper chunks that fit the LLM context better and improved </a:t>
            </a: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response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Best results: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Came from the simplest approach → 500 characters with 200 overlap.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629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BC14D-F9A4-0A8B-DF00-3E7FD2EC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16AE-460D-3BD9-2A1E-BFDE033B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375"/>
          </a:xfrm>
        </p:spPr>
        <p:txBody>
          <a:bodyPr>
            <a:normAutofit/>
          </a:bodyPr>
          <a:lstStyle/>
          <a:p>
            <a: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EMBEDDINGS &amp; VECTOR STORE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7C6B72C-AC30-625F-3D2B-D66DC5A02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79500"/>
            <a:ext cx="13832457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Models :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all-MiniLM-L6-v2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(384-dim): lightweight baseline, fast but lower semantic quality.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all-mpnet-base-v2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(768-dim): richer semantic space, consistently higher similarity scores.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 Representation: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chunk converted into a dense vector.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both text + metadata.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Indexing Approaches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FAISS L2 index (Euclidean distance) tested first, good but less semantic.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Shifted to FAISS cosine index with normalized embeddings →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closer matches for natural language queries.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Vectors normalized at both indexing and querying steps.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inner product ≈ cosine similarity, making retrieval consistent.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84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560E-5BC0-365D-DD6F-1B843E11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77D8-4EDB-C001-97C5-8B77B0DD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41" y="433776"/>
            <a:ext cx="10515600" cy="714375"/>
          </a:xfrm>
        </p:spPr>
        <p:txBody>
          <a:bodyPr>
            <a:noAutofit/>
          </a:bodyPr>
          <a:lstStyle/>
          <a:p>
            <a: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RETRIEVAL &amp; PROMPTING</a:t>
            </a:r>
            <a:b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sz="40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0FEA4B7-DB46-2B12-A672-C52CEB5B6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1" y="790964"/>
            <a:ext cx="1092248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Retrieval flow: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query → embedded with same model (all-mpnet-base-v2).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FAISS cosine index searched → Top-4 most relevant chunks returned.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retriever ensures FAISS ids map back to the right documents.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Prompt construction: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Retrieved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chunks joined into a context block.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Recent conversation history (last 3 QA) included for continuity.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 instruction: </a:t>
            </a:r>
            <a:r>
              <a:rPr kumimoji="0" lang="en-US" altLang="en-US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“Answer only from the given context. If answer not found, say you don’t know.”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Grounding: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Prompts explicitly discourage hallucination.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Keeps answers short, crisp, and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fact-based.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wrapped in a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 with chat-style UI.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Memory handled with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session_state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1C7972-95D4-9065-2693-42DE4EE0C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5" y="4510890"/>
            <a:ext cx="11271849" cy="220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3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EEAE-F49D-8792-D926-EC1469F4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0329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</a:t>
            </a:r>
            <a: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B42FC9-4BE9-A7B4-8C47-FFF69C27F25C}"/>
              </a:ext>
            </a:extLst>
          </p:cNvPr>
          <p:cNvSpPr/>
          <p:nvPr/>
        </p:nvSpPr>
        <p:spPr>
          <a:xfrm>
            <a:off x="1270002" y="1874211"/>
            <a:ext cx="1530349" cy="147699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E286B-A275-A961-7203-F0FF0285C8B3}"/>
              </a:ext>
            </a:extLst>
          </p:cNvPr>
          <p:cNvSpPr txBox="1"/>
          <p:nvPr/>
        </p:nvSpPr>
        <p:spPr>
          <a:xfrm>
            <a:off x="1504946" y="2429211"/>
            <a:ext cx="1092200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User Querry</a:t>
            </a:r>
            <a:endParaRPr lang="en-IN" sz="14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ED3A42-1F02-0B0A-01AC-C1B1F4730D10}"/>
              </a:ext>
            </a:extLst>
          </p:cNvPr>
          <p:cNvSpPr/>
          <p:nvPr/>
        </p:nvSpPr>
        <p:spPr>
          <a:xfrm>
            <a:off x="3784596" y="1874212"/>
            <a:ext cx="1530349" cy="147699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8FAD92-74CC-5726-1DDE-371D5AF0D857}"/>
              </a:ext>
            </a:extLst>
          </p:cNvPr>
          <p:cNvSpPr txBox="1"/>
          <p:nvPr/>
        </p:nvSpPr>
        <p:spPr>
          <a:xfrm>
            <a:off x="3968743" y="2092416"/>
            <a:ext cx="1162053" cy="9541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Embedding</a:t>
            </a:r>
          </a:p>
          <a:p>
            <a:r>
              <a:rPr lang="en-US" altLang="en-US" sz="1200" b="1" dirty="0">
                <a:latin typeface="Arial Unicode MS"/>
              </a:rPr>
              <a:t>all-mpnet-base-v2</a:t>
            </a:r>
            <a:endParaRPr lang="en-US" sz="1200" b="1" dirty="0"/>
          </a:p>
          <a:p>
            <a:endParaRPr lang="en-IN" b="1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E16C6A7-92F4-5849-D541-61AFC8B8B521}"/>
              </a:ext>
            </a:extLst>
          </p:cNvPr>
          <p:cNvSpPr/>
          <p:nvPr/>
        </p:nvSpPr>
        <p:spPr>
          <a:xfrm>
            <a:off x="6604002" y="1874211"/>
            <a:ext cx="1530349" cy="147699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571C74-1F9E-8B6A-279E-C658F404B7DB}"/>
              </a:ext>
            </a:extLst>
          </p:cNvPr>
          <p:cNvSpPr txBox="1"/>
          <p:nvPr/>
        </p:nvSpPr>
        <p:spPr>
          <a:xfrm>
            <a:off x="6680207" y="2307858"/>
            <a:ext cx="1346200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 err="1"/>
              <a:t>Faiss</a:t>
            </a:r>
            <a:r>
              <a:rPr lang="en-US" sz="1400" b="1" dirty="0"/>
              <a:t> Index</a:t>
            </a:r>
          </a:p>
          <a:p>
            <a:r>
              <a:rPr lang="en-US" sz="1400" b="1" dirty="0"/>
              <a:t>Cosine search</a:t>
            </a:r>
            <a:endParaRPr lang="en-IN" sz="1400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EB2A91B-BACE-9822-DCCA-E00A94697F10}"/>
              </a:ext>
            </a:extLst>
          </p:cNvPr>
          <p:cNvSpPr/>
          <p:nvPr/>
        </p:nvSpPr>
        <p:spPr>
          <a:xfrm>
            <a:off x="9201151" y="1874211"/>
            <a:ext cx="1530349" cy="147699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9B03FB-8AAC-2E42-DFA2-4707EAA95814}"/>
              </a:ext>
            </a:extLst>
          </p:cNvPr>
          <p:cNvSpPr txBox="1"/>
          <p:nvPr/>
        </p:nvSpPr>
        <p:spPr>
          <a:xfrm>
            <a:off x="9293225" y="2415580"/>
            <a:ext cx="1346200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Top 4 Chunks</a:t>
            </a:r>
            <a:endParaRPr lang="en-IN" sz="1400" b="1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168ADE-8A43-6844-04B2-D1B717543DE2}"/>
              </a:ext>
            </a:extLst>
          </p:cNvPr>
          <p:cNvSpPr/>
          <p:nvPr/>
        </p:nvSpPr>
        <p:spPr>
          <a:xfrm>
            <a:off x="3816342" y="4393787"/>
            <a:ext cx="1530349" cy="147699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555FF47-FF68-FC80-B35B-20F03FFBC07E}"/>
              </a:ext>
            </a:extLst>
          </p:cNvPr>
          <p:cNvSpPr/>
          <p:nvPr/>
        </p:nvSpPr>
        <p:spPr>
          <a:xfrm>
            <a:off x="6696076" y="4393786"/>
            <a:ext cx="1530349" cy="147699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F09B86E-C784-1408-1A8F-037FA7957CB7}"/>
              </a:ext>
            </a:extLst>
          </p:cNvPr>
          <p:cNvSpPr/>
          <p:nvPr/>
        </p:nvSpPr>
        <p:spPr>
          <a:xfrm>
            <a:off x="9293225" y="4393785"/>
            <a:ext cx="1530349" cy="147699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BAEC96-68BE-279F-4792-EEF9ADDF7CDB}"/>
              </a:ext>
            </a:extLst>
          </p:cNvPr>
          <p:cNvSpPr txBox="1"/>
          <p:nvPr/>
        </p:nvSpPr>
        <p:spPr>
          <a:xfrm>
            <a:off x="9702800" y="4762952"/>
            <a:ext cx="876307" cy="73866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Prompt</a:t>
            </a:r>
          </a:p>
          <a:p>
            <a:r>
              <a:rPr lang="en-US" sz="1400" b="1" dirty="0" err="1"/>
              <a:t>Context+history</a:t>
            </a:r>
            <a:endParaRPr lang="en-IN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B0B7B0-02E9-3F8F-44F7-2CD210D49E13}"/>
              </a:ext>
            </a:extLst>
          </p:cNvPr>
          <p:cNvSpPr txBox="1"/>
          <p:nvPr/>
        </p:nvSpPr>
        <p:spPr>
          <a:xfrm>
            <a:off x="6788151" y="4867299"/>
            <a:ext cx="1346200" cy="5232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LLM</a:t>
            </a:r>
          </a:p>
          <a:p>
            <a:r>
              <a:rPr lang="en-US" sz="1400" b="1" dirty="0"/>
              <a:t>Mistral 7B</a:t>
            </a:r>
            <a:endParaRPr lang="en-IN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5A252D-0DB4-F408-7B45-AB3C1BD412F7}"/>
              </a:ext>
            </a:extLst>
          </p:cNvPr>
          <p:cNvSpPr txBox="1"/>
          <p:nvPr/>
        </p:nvSpPr>
        <p:spPr>
          <a:xfrm>
            <a:off x="3908416" y="4978398"/>
            <a:ext cx="1346200" cy="3077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b="1" dirty="0"/>
              <a:t>Response</a:t>
            </a:r>
            <a:endParaRPr lang="en-IN" sz="1400" b="1" dirty="0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D261DE27-3F36-60BD-0F59-5351D2253D24}"/>
              </a:ext>
            </a:extLst>
          </p:cNvPr>
          <p:cNvSpPr/>
          <p:nvPr/>
        </p:nvSpPr>
        <p:spPr>
          <a:xfrm>
            <a:off x="2800351" y="2429211"/>
            <a:ext cx="984243" cy="415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B8990C51-3BAB-8F3B-B935-95CB1DAF40E3}"/>
              </a:ext>
            </a:extLst>
          </p:cNvPr>
          <p:cNvSpPr/>
          <p:nvPr/>
        </p:nvSpPr>
        <p:spPr>
          <a:xfrm>
            <a:off x="5391150" y="2408853"/>
            <a:ext cx="1212852" cy="415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2D085B8D-7232-8F21-1973-4CE511486F27}"/>
              </a:ext>
            </a:extLst>
          </p:cNvPr>
          <p:cNvSpPr/>
          <p:nvPr/>
        </p:nvSpPr>
        <p:spPr>
          <a:xfrm>
            <a:off x="8226425" y="2388072"/>
            <a:ext cx="974726" cy="415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62ABF9F1-6798-AEE1-1B56-19D4F5719519}"/>
              </a:ext>
            </a:extLst>
          </p:cNvPr>
          <p:cNvSpPr/>
          <p:nvPr/>
        </p:nvSpPr>
        <p:spPr>
          <a:xfrm>
            <a:off x="9848850" y="3429000"/>
            <a:ext cx="425450" cy="9017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55625926-A16D-3AD0-2F59-353F1D25E494}"/>
              </a:ext>
            </a:extLst>
          </p:cNvPr>
          <p:cNvSpPr/>
          <p:nvPr/>
        </p:nvSpPr>
        <p:spPr>
          <a:xfrm rot="10800000">
            <a:off x="8272462" y="4924535"/>
            <a:ext cx="974726" cy="415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AE9AF65B-A96C-8EF0-7083-8F6B1E4D7956}"/>
              </a:ext>
            </a:extLst>
          </p:cNvPr>
          <p:cNvSpPr/>
          <p:nvPr/>
        </p:nvSpPr>
        <p:spPr>
          <a:xfrm rot="10800000">
            <a:off x="5391149" y="4921160"/>
            <a:ext cx="1212852" cy="4154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07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DB4B3-F3BD-7181-600B-3A9CDD87B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E9B5-24EC-70C0-20F2-7600EECA3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87" y="616968"/>
            <a:ext cx="10515600" cy="714375"/>
          </a:xfrm>
        </p:spPr>
        <p:txBody>
          <a:bodyPr>
            <a:noAutofit/>
          </a:bodyPr>
          <a:lstStyle/>
          <a:p>
            <a: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LLM FOR ANSWER GENERATION</a:t>
            </a:r>
            <a:b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sz="40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00F3573-BFA9-F188-60DA-7347AF1FA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618" y="929730"/>
            <a:ext cx="591244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model used: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Mistral-7B Instruct via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llama.cpp.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context length up to 8192 tokens.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Produces fluent, instruction-following answers.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models tested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Phi-2: lightweight, faster but less accurate.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1.5 Flash: strong results, but API quota/latency constraints.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includes: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retrieved context + short conversation history + instruction to “answer only from context”.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Responses are </a:t>
            </a:r>
            <a:r>
              <a:rPr lang="en-US" altLang="en-US" sz="1600" dirty="0">
                <a:latin typeface="Arial" panose="020B0604020202020204" pitchFamily="34" charset="0"/>
              </a:rPr>
              <a:t>displayed after generation in the </a:t>
            </a:r>
            <a:r>
              <a:rPr lang="en-US" altLang="en-US" sz="1600" dirty="0" err="1">
                <a:latin typeface="Arial" panose="020B0604020202020204" pitchFamily="34" charset="0"/>
              </a:rPr>
              <a:t>Streamlit</a:t>
            </a:r>
            <a:r>
              <a:rPr lang="en-US" altLang="en-US" sz="1600" dirty="0">
                <a:latin typeface="Arial" panose="020B0604020202020204" pitchFamily="34" charset="0"/>
              </a:rPr>
              <a:t> UI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Mistral: reliable and grounded, but slower on CPU.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Gemini: almost comparable in accuracy, but impractical locally.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choice: Mistral 7B Instruct for this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A56E5B-FD34-D1A6-8CF3-809742F27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317" y="1272502"/>
            <a:ext cx="5019709" cy="466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5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CF38-56C1-47C0-67F3-81FA575A7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5A30-F89E-54C8-0EAE-D3346306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018"/>
            <a:ext cx="10515600" cy="714375"/>
          </a:xfrm>
        </p:spPr>
        <p:txBody>
          <a:bodyPr>
            <a:noAutofit/>
          </a:bodyPr>
          <a:lstStyle/>
          <a:p>
            <a: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EVALUATION</a:t>
            </a:r>
            <a:b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sz="40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561939-03DD-9CBF-41E1-CABC5E3CB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530" y="860397"/>
            <a:ext cx="11036300" cy="2672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Test set:</a:t>
            </a:r>
            <a:r>
              <a:rPr lang="en-US" sz="1600" dirty="0"/>
              <a:t> 297 GPT-4o QA pairs.</a:t>
            </a:r>
            <a:br>
              <a:rPr lang="en-US" sz="1600" dirty="0"/>
            </a:br>
            <a:r>
              <a:rPr lang="en-US" sz="1600" b="1" dirty="0"/>
              <a:t>Metrics:</a:t>
            </a:r>
            <a:r>
              <a:rPr lang="en-US" sz="1600" dirty="0"/>
              <a:t> BLEU-1, ROUGE-1/2/L, METEOR, cosine Semantic Similarity.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2E517-3FDA-A988-4031-213DA6F784AD}"/>
              </a:ext>
            </a:extLst>
          </p:cNvPr>
          <p:cNvSpPr txBox="1"/>
          <p:nvPr/>
        </p:nvSpPr>
        <p:spPr>
          <a:xfrm>
            <a:off x="1009530" y="4494643"/>
            <a:ext cx="9766540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Final Setup: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500 characters with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 overlap</a:t>
            </a:r>
            <a:r>
              <a:rPr lang="en-US" altLang="en-US" sz="1600" dirty="0">
                <a:latin typeface="Arial" panose="020B0604020202020204" pitchFamily="34" charset="0"/>
              </a:rPr>
              <a:t>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FAISS cosine similarity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Mistral-7B Instruct as final chat model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D25A5D8-B1CF-E293-E240-AFD12D88A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10618"/>
              </p:ext>
            </p:extLst>
          </p:nvPr>
        </p:nvGraphicFramePr>
        <p:xfrm>
          <a:off x="1636145" y="1860429"/>
          <a:ext cx="8002439" cy="2634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79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7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8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6843">
                <a:tc>
                  <a:txBody>
                    <a:bodyPr/>
                    <a:lstStyle/>
                    <a:p>
                      <a:r>
                        <a:rPr sz="1200" b="1"/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BLEU-1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ROUGE-1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ROUGE-2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ROUGE-L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METEOR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843">
                <a:tc>
                  <a:txBody>
                    <a:bodyPr/>
                    <a:lstStyle/>
                    <a:p>
                      <a:r>
                        <a:rPr sz="1100"/>
                        <a:t>MiniLM + L2 + Mistral7B</a:t>
                      </a:r>
                    </a:p>
                    <a:p>
                      <a:r>
                        <a:rPr sz="1100"/>
                        <a:t>(Similarity-based merging)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843">
                <a:tc>
                  <a:txBody>
                    <a:bodyPr/>
                    <a:lstStyle/>
                    <a:p>
                      <a:r>
                        <a:rPr sz="1100"/>
                        <a:t>MpNet + Cosine + Mistral7B</a:t>
                      </a:r>
                    </a:p>
                    <a:p>
                      <a:r>
                        <a:rPr sz="1100"/>
                        <a:t>(Similarity-based merging)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843">
                <a:tc>
                  <a:txBody>
                    <a:bodyPr/>
                    <a:lstStyle/>
                    <a:p>
                      <a:r>
                        <a:rPr sz="1100"/>
                        <a:t>MpNet + Sliding Window + Mistral7B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843">
                <a:tc>
                  <a:txBody>
                    <a:bodyPr/>
                    <a:lstStyle/>
                    <a:p>
                      <a:r>
                        <a:rPr sz="1100"/>
                        <a:t>MpNet + Sliding Window + Gemini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0.84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154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6B0C-28B7-8B98-9EC1-9E266D6B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7E864-7257-D65F-C43A-F9D7ED26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075"/>
            <a:ext cx="10515600" cy="714375"/>
          </a:xfrm>
        </p:spPr>
        <p:txBody>
          <a:bodyPr>
            <a:noAutofit/>
          </a:bodyPr>
          <a:lstStyle/>
          <a:p>
            <a: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CONCLUSION</a:t>
            </a:r>
            <a:br>
              <a:rPr lang="en-IN" sz="40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en-IN" sz="4000" b="1" u="sng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96DADF-80D8-B692-5E01-9DEAFB47D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448" y="3422488"/>
            <a:ext cx="1109980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5B05315-32B6-D104-5745-E8C5DFEE7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53" y="1247689"/>
            <a:ext cx="8382000" cy="373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an end-to-end RAG chatbot for European Commission news.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Pipeline: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Articles (June–July 2024) → 500-char chunks with 200 overlap.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Encoded using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MPNet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embeddings → stored in FAISS cosine index.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Queries answered by Mistral-7B Instruct with context grounding.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Results: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Evaluation on 297 QA pairs → clear improvement over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MiniLM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baseline.</a:t>
            </a:r>
            <a:b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Sliding-window strategy produced more coherent, fact-based answers.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grounded responses, low hallucination.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 on CPU, partial quantitative evaluation.</a:t>
            </a:r>
          </a:p>
        </p:txBody>
      </p:sp>
    </p:spTree>
    <p:extLst>
      <p:ext uri="{BB962C8B-B14F-4D97-AF65-F5344CB8AC3E}">
        <p14:creationId xmlns:p14="http://schemas.microsoft.com/office/powerpoint/2010/main" val="197897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17002</TotalTime>
  <Words>892</Words>
  <Application>Microsoft Office PowerPoint</Application>
  <PresentationFormat>Widescreen</PresentationFormat>
  <Paragraphs>150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RAG CHATBOT FOR EU COMMISSION NEWS</vt:lpstr>
      <vt:lpstr>INTRODUCTION</vt:lpstr>
      <vt:lpstr>DATA COLLECTION</vt:lpstr>
      <vt:lpstr>CHUNKING STRATEGY</vt:lpstr>
      <vt:lpstr>EMBEDDINGS &amp; VECTOR STORE</vt:lpstr>
      <vt:lpstr>RETRIEVAL &amp; PROMPTING </vt:lpstr>
      <vt:lpstr>ARCHITECTURE</vt:lpstr>
      <vt:lpstr>LLM FOR ANSWER GENERATION </vt:lpstr>
      <vt:lpstr>EVALUATION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 Prakash Yadav</dc:creator>
  <cp:lastModifiedBy>Shri Prakash Yadav</cp:lastModifiedBy>
  <cp:revision>68</cp:revision>
  <dcterms:created xsi:type="dcterms:W3CDTF">2025-09-25T13:08:30Z</dcterms:created>
  <dcterms:modified xsi:type="dcterms:W3CDTF">2025-11-07T17:15:55Z</dcterms:modified>
</cp:coreProperties>
</file>